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8" userDrawn="1">
          <p15:clr>
            <a:srgbClr val="A4A3A4"/>
          </p15:clr>
        </p15:guide>
        <p15:guide id="2" pos="426" userDrawn="1">
          <p15:clr>
            <a:srgbClr val="A4A3A4"/>
          </p15:clr>
        </p15:guide>
        <p15:guide id="3" orient="horz" pos="390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2008"/>
        <p:guide pos="426"/>
        <p:guide orient="horz" pos="390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0.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1.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2.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402183" y="3540099"/>
            <a:ext cx="3400089" cy="861497"/>
          </a:xfrm>
        </p:spPr>
        <p:txBody>
          <a:bodyPr vert="horz" lIns="91440" tIns="45720" rIns="91440" bIns="45720" rtlCol="0" anchor="t">
            <a:normAutofit/>
          </a:bodyPr>
          <a:lstStyle/>
          <a:p>
            <a:pPr algn="ctr"/>
            <a:r>
              <a:rPr lang="en-IN" altLang="en-US" b="0" dirty="0">
                <a:solidFill>
                  <a:schemeClr val="tx1"/>
                </a:solidFill>
              </a:rPr>
              <a:t>Avi Anant</a:t>
            </a:r>
            <a:r>
              <a:rPr lang="en-US" b="0" dirty="0">
                <a:solidFill>
                  <a:schemeClr val="tx1"/>
                </a:solidFill>
              </a:rPr>
              <a:t> </a:t>
            </a:r>
            <a:endParaRPr lang="en-IN" b="0" dirty="0">
              <a:solidFill>
                <a:schemeClr val="tx1"/>
              </a:solidFill>
            </a:endParaRPr>
          </a:p>
          <a:p>
            <a:pPr algn="ctr"/>
            <a:r>
              <a:rPr lang="en-IN" b="0" dirty="0">
                <a:solidFill>
                  <a:schemeClr val="tx1"/>
                </a:solidFill>
              </a:rPr>
              <a:t>AMC Engineering College</a:t>
            </a:r>
            <a:endParaRPr lang="en-IN" b="0" dirty="0">
              <a:solidFill>
                <a:schemeClr val="tx1"/>
              </a:solidFill>
            </a:endParaRPr>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4013835" y="4401820"/>
            <a:ext cx="4163695" cy="645160"/>
          </a:xfrm>
          <a:prstGeom prst="rect">
            <a:avLst/>
          </a:prstGeom>
          <a:noFill/>
        </p:spPr>
        <p:txBody>
          <a:bodyPr wrap="square" rtlCol="0">
            <a:spAutoFit/>
          </a:bodyPr>
          <a:lstStyle/>
          <a:p>
            <a:pPr algn="ctr"/>
            <a:r>
              <a:rPr lang="en-US" b="1" dirty="0"/>
              <a:t>AICTE STU ID : </a:t>
            </a:r>
            <a:r>
              <a:rPr lang="en-US" altLang="en-US" b="1" dirty="0"/>
              <a:t>STU6a6b26d41ecf51785407188</a:t>
            </a:r>
            <a:endParaRPr lang="en-US" altLang="en-US" b="1" dirty="0"/>
          </a:p>
        </p:txBody>
      </p:sp>
      <p:sp>
        <p:nvSpPr>
          <p:cNvPr id="5" name="Text Box 4"/>
          <p:cNvSpPr txBox="1"/>
          <p:nvPr/>
        </p:nvSpPr>
        <p:spPr>
          <a:xfrm>
            <a:off x="2028037" y="2834569"/>
            <a:ext cx="8148320" cy="705485"/>
          </a:xfrm>
          <a:prstGeom prst="rect">
            <a:avLst/>
          </a:prstGeom>
          <a:noFill/>
        </p:spPr>
        <p:txBody>
          <a:bodyPr wrap="square" rtlCol="0">
            <a:noAutofit/>
          </a:bodyPr>
          <a:p>
            <a:r>
              <a:rPr lang="en-IN" altLang="en-US" sz="3200"/>
              <a:t>Seasonal Agricultural Performance Analysis</a:t>
            </a:r>
            <a:endParaRPr lang="en-IN"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9"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54380" y="1538605"/>
            <a:ext cx="7613015" cy="2635885"/>
          </a:xfrm>
        </p:spPr>
        <p:txBody>
          <a:bodyPr vert="horz" lIns="91440" tIns="45720" rIns="91440" bIns="45720" rtlCol="0" anchor="t">
            <a:noAutofit/>
          </a:bodyPr>
          <a:lstStyle/>
          <a:p>
            <a:pPr algn="l">
              <a:lnSpc>
                <a:spcPct val="150000"/>
              </a:lnSpc>
            </a:pPr>
            <a:r>
              <a:rPr lang="en-US" altLang="en-US" sz="1800" dirty="0"/>
              <a:t>Agricultural activities are influenced by seasonal variations in environmental conditions, farming practices, resource availability and market conditions. As a result, agricultural performance may differ from one season to another.</a:t>
            </a:r>
            <a:endParaRPr lang="en-US" altLang="en-US" sz="1800" dirty="0"/>
          </a:p>
          <a:p>
            <a:pPr algn="l">
              <a:lnSpc>
                <a:spcPct val="150000"/>
              </a:lnSpc>
            </a:pPr>
            <a:r>
              <a:rPr lang="en-US" altLang="en-US" sz="1800" dirty="0"/>
              <a:t>However, raw agricultural data does not clearly explain how agricultural performance changes across seasons or what patterns can be observed in different seasonal conditions.</a:t>
            </a:r>
            <a:endParaRPr lang="en-US" altLang="en-US" sz="1800" dirty="0"/>
          </a:p>
          <a:p>
            <a:pPr algn="l">
              <a:lnSpc>
                <a:spcPct val="150000"/>
              </a:lnSpc>
            </a:pPr>
            <a:r>
              <a:rPr lang="en-US" altLang="en-US" sz="1800" dirty="0"/>
              <a:t>The problem is to analyze the given agricultural dataset and investigate seasonal differences in agricultural performance by identifying meaningful pat</a:t>
            </a:r>
            <a:r>
              <a:rPr lang="en-IN" altLang="en-US" sz="1800" dirty="0">
                <a:sym typeface="+mn-ea"/>
              </a:rPr>
              <a:t>within the available data</a:t>
            </a:r>
            <a:r>
              <a:rPr lang="en-US" altLang="en-US" sz="1800" dirty="0"/>
              <a:t>terns, trends, relationships and variations</a:t>
            </a:r>
            <a:r>
              <a:rPr lang="en-IN" altLang="en-US" sz="1800" dirty="0"/>
              <a:t> </a:t>
            </a:r>
            <a:r>
              <a:rPr lang="en-IN" altLang="en-US" sz="1800" dirty="0">
                <a:sym typeface="+mn-ea"/>
              </a:rPr>
              <a:t>. </a:t>
            </a:r>
            <a:r>
              <a:rPr lang="en-IN" altLang="en-US" sz="1800" dirty="0"/>
              <a:t> </a:t>
            </a:r>
            <a:endParaRPr lang="en-IN" altLang="en-US" sz="1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sp>
        <p:nvSpPr>
          <p:cNvPr id="9" name="Text Box 8"/>
          <p:cNvSpPr txBox="1"/>
          <p:nvPr/>
        </p:nvSpPr>
        <p:spPr>
          <a:xfrm>
            <a:off x="612775" y="6340475"/>
            <a:ext cx="2320290" cy="368300"/>
          </a:xfrm>
          <a:prstGeom prst="rect">
            <a:avLst/>
          </a:prstGeom>
          <a:solidFill>
            <a:schemeClr val="bg1"/>
          </a:solidFill>
        </p:spPr>
        <p:txBody>
          <a:bodyPr wrap="square">
            <a:spAutoFit/>
            <a:extLst>
              <a:ext uri="{4A0BC546-FE56-4ADE-93B0-CB8AF2F6F144}">
                <wpsdc:textFrameExt xmlns:wpsdc="http://www.wps.cn/officeDocument/2022/drawingmlCustomData" type="text"/>
              </a:ext>
            </a:extLst>
          </a:bodyPr>
          <a:p>
            <a:pPr algn="l"/>
            <a:r>
              <a:rPr lang="en-IN" altLang="en-US" sz="1800">
                <a:latin typeface="Arial" panose="020B0604020202020204" pitchFamily="34" charset="0"/>
                <a:ea typeface="微软雅黑" panose="020B0503020204020204" charset="-122"/>
              </a:rPr>
              <a:t>  </a:t>
            </a:r>
            <a:endParaRPr lang="en-IN" altLang="en-US" sz="180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675640" y="2038350"/>
            <a:ext cx="8834120" cy="2030095"/>
          </a:xfrm>
          <a:prstGeom prst="rect">
            <a:avLst/>
          </a:prstGeom>
          <a:noFill/>
        </p:spPr>
        <p:txBody>
          <a:bodyPr wrap="square" rtlCol="0">
            <a:spAutoFit/>
          </a:bodyPr>
          <a:p>
            <a:r>
              <a:rPr lang="en-US" altLang="en-US"/>
              <a:t>This project analyzes agricultural data collected across different seasons, regions and farming conditions. The analysis focuses on agricultural performance, environmental conditions, farming practices, resource usage and economic outcomes. Data analysis and visualization are used to identify seasonal patterns, compare performance, examine relationships and understand significant differences in the data. The findings are used to develop meaningful conclusions and support better seasonal agricultural planning.</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60" y="1804670"/>
            <a:ext cx="7847965" cy="4486275"/>
          </a:xfrm>
        </p:spPr>
        <p:txBody>
          <a:bodyPr>
            <a:noAutofit/>
          </a:bodyPr>
          <a:lstStyle/>
          <a:p>
            <a:pPr algn="just">
              <a:lnSpc>
                <a:spcPct val="150000"/>
              </a:lnSpc>
            </a:pPr>
            <a:r>
              <a:rPr lang="en-US" altLang="en-US" sz="1800" dirty="0"/>
              <a:t>Farmers</a:t>
            </a:r>
            <a:endParaRPr lang="en-US" altLang="en-US" sz="1800" dirty="0"/>
          </a:p>
          <a:p>
            <a:pPr algn="just">
              <a:lnSpc>
                <a:spcPct val="150000"/>
              </a:lnSpc>
            </a:pPr>
            <a:r>
              <a:rPr lang="en-US" altLang="en-US" sz="1800" dirty="0"/>
              <a:t>Agricultural planners</a:t>
            </a:r>
            <a:endParaRPr lang="en-US" altLang="en-US" sz="1800" dirty="0"/>
          </a:p>
          <a:p>
            <a:pPr algn="just">
              <a:lnSpc>
                <a:spcPct val="150000"/>
              </a:lnSpc>
            </a:pPr>
            <a:r>
              <a:rPr lang="en-US" altLang="en-US" sz="1800" dirty="0"/>
              <a:t>Agricultural researchers</a:t>
            </a:r>
            <a:endParaRPr lang="en-US" altLang="en-US" sz="1800" dirty="0"/>
          </a:p>
          <a:p>
            <a:pPr algn="just">
              <a:lnSpc>
                <a:spcPct val="150000"/>
              </a:lnSpc>
            </a:pPr>
            <a:r>
              <a:rPr lang="en-US" altLang="en-US" sz="1800" dirty="0"/>
              <a:t>Government and agricultural organizations</a:t>
            </a:r>
            <a:endParaRPr lang="en-US" altLang="en-US" sz="1800" dirty="0"/>
          </a:p>
          <a:p>
            <a:pPr algn="just">
              <a:lnSpc>
                <a:spcPct val="150000"/>
              </a:lnSpc>
            </a:pPr>
            <a:r>
              <a:rPr lang="en-US" altLang="en-US" sz="1800" dirty="0"/>
              <a:t>Data analysts and decision-maker</a:t>
            </a:r>
            <a:endParaRPr lang="en-US" altLang="en-US" sz="1800"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60" y="6306820"/>
            <a:ext cx="2420620" cy="539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1252855" y="1278255"/>
            <a:ext cx="8165465" cy="5243195"/>
          </a:xfrm>
        </p:spPr>
        <p:txBody>
          <a:bodyPr/>
          <a:lstStyle/>
          <a:p>
            <a:pPr lvl="1">
              <a:lnSpc>
                <a:spcPct val="150000"/>
              </a:lnSpc>
            </a:pPr>
            <a:r>
              <a:rPr lang="en-US" altLang="en-US" sz="1800" dirty="0"/>
              <a:t>Python</a:t>
            </a:r>
            <a:endParaRPr lang="en-US" altLang="en-US" sz="1800" dirty="0"/>
          </a:p>
          <a:p>
            <a:pPr lvl="1">
              <a:lnSpc>
                <a:spcPct val="150000"/>
              </a:lnSpc>
            </a:pPr>
            <a:r>
              <a:rPr lang="en-US" altLang="en-US" sz="1800" dirty="0"/>
              <a:t>Google Colab / Jupyter Notebook</a:t>
            </a:r>
            <a:endParaRPr lang="en-US" altLang="en-US" sz="1800" dirty="0"/>
          </a:p>
          <a:p>
            <a:pPr lvl="1">
              <a:lnSpc>
                <a:spcPct val="150000"/>
              </a:lnSpc>
            </a:pPr>
            <a:r>
              <a:rPr lang="en-US" altLang="en-US" sz="1800" dirty="0"/>
              <a:t>Pandas</a:t>
            </a:r>
            <a:endParaRPr lang="en-US" altLang="en-US" sz="1800" dirty="0"/>
          </a:p>
          <a:p>
            <a:pPr lvl="1">
              <a:lnSpc>
                <a:spcPct val="150000"/>
              </a:lnSpc>
            </a:pPr>
            <a:r>
              <a:rPr lang="en-US" altLang="en-US" sz="1800" dirty="0"/>
              <a:t>NumPy</a:t>
            </a:r>
            <a:endParaRPr lang="en-US" altLang="en-US" sz="1800" dirty="0"/>
          </a:p>
          <a:p>
            <a:pPr lvl="1">
              <a:lnSpc>
                <a:spcPct val="150000"/>
              </a:lnSpc>
            </a:pPr>
            <a:r>
              <a:rPr lang="en-US" altLang="en-US" sz="1800" dirty="0"/>
              <a:t>Matplotlib</a:t>
            </a:r>
            <a:endParaRPr lang="en-US" altLang="en-US" sz="1800" dirty="0"/>
          </a:p>
          <a:p>
            <a:pPr lvl="1">
              <a:lnSpc>
                <a:spcPct val="150000"/>
              </a:lnSpc>
            </a:pPr>
            <a:r>
              <a:rPr lang="en-US" altLang="en-US" sz="1800" dirty="0"/>
              <a:t>Seaborn</a:t>
            </a:r>
            <a:endParaRPr lang="en-US" altLang="en-US" sz="1800" dirty="0"/>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268354"/>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p:cNvPicPr>
            <a:picLocks noChangeAspect="1"/>
          </p:cNvPicPr>
          <p:nvPr/>
        </p:nvPicPr>
        <p:blipFill>
          <a:blip r:embed="rId2"/>
          <a:stretch>
            <a:fillRect/>
          </a:stretch>
        </p:blipFill>
        <p:spPr>
          <a:xfrm>
            <a:off x="1485900" y="1099820"/>
            <a:ext cx="9220200" cy="55651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259464"/>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IN" dirty="0"/>
              <a:t> </a:t>
            </a:r>
            <a:endParaRPr lang="en-IN" dirty="0"/>
          </a:p>
        </p:txBody>
      </p:sp>
      <p:pic>
        <p:nvPicPr>
          <p:cNvPr id="2" name="Picture 1"/>
          <p:cNvPicPr>
            <a:picLocks noChangeAspect="1"/>
          </p:cNvPicPr>
          <p:nvPr/>
        </p:nvPicPr>
        <p:blipFill>
          <a:blip r:embed="rId2"/>
          <a:stretch>
            <a:fillRect/>
          </a:stretch>
        </p:blipFill>
        <p:spPr>
          <a:xfrm>
            <a:off x="1258570" y="1109345"/>
            <a:ext cx="9638030" cy="5362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6192520" y="680720"/>
            <a:ext cx="5250180" cy="5791200"/>
          </a:xfrm>
          <a:prstGeom prst="rect">
            <a:avLst/>
          </a:prstGeom>
        </p:spPr>
      </p:pic>
      <p:pic>
        <p:nvPicPr>
          <p:cNvPr id="3" name="Picture 2"/>
          <p:cNvPicPr>
            <a:picLocks noChangeAspect="1"/>
          </p:cNvPicPr>
          <p:nvPr/>
        </p:nvPicPr>
        <p:blipFill>
          <a:blip r:embed="rId3"/>
          <a:srcRect l="5310"/>
          <a:stretch>
            <a:fillRect/>
          </a:stretch>
        </p:blipFill>
        <p:spPr>
          <a:xfrm>
            <a:off x="675005" y="2110105"/>
            <a:ext cx="5249545" cy="32086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p:nvPr>
            <p:ph type="body" sz="quarter" idx="12"/>
          </p:nvPr>
        </p:nvSpPr>
        <p:spPr/>
        <p:txBody>
          <a:bodyPr/>
          <a:p>
            <a:endParaRPr lang="en-US"/>
          </a:p>
        </p:txBody>
      </p:sp>
      <p:pic>
        <p:nvPicPr>
          <p:cNvPr id="3" name="Picture 2"/>
          <p:cNvPicPr>
            <a:picLocks noChangeAspect="1"/>
          </p:cNvPicPr>
          <p:nvPr/>
        </p:nvPicPr>
        <p:blipFill>
          <a:blip r:embed="rId2"/>
          <a:stretch>
            <a:fillRect/>
          </a:stretch>
        </p:blipFill>
        <p:spPr>
          <a:xfrm>
            <a:off x="899795" y="1200785"/>
            <a:ext cx="10196830" cy="54241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1256030" y="1201420"/>
            <a:ext cx="9697085" cy="51739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675867" y="1431313"/>
            <a:ext cx="10416540" cy="3291840"/>
          </a:xfrm>
          <a:prstGeom prst="rect">
            <a:avLst/>
          </a:prstGeom>
        </p:spPr>
        <p:txBody>
          <a:bodyPr vert="horz" lIns="91440" tIns="45720" rIns="91440" bIns="45720" rtlCol="0"/>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457200" indent="-457200" algn="l">
              <a:buFont typeface="Arial" panose="020B0604020202020204" pitchFamily="34" charset="0"/>
              <a:buChar char="•"/>
            </a:pPr>
            <a:r>
              <a:rPr lang="en-US" altLang="en-US" sz="1800" dirty="0"/>
              <a:t>Develop more detailed seasonal agricultural analysis.</a:t>
            </a:r>
            <a:endParaRPr lang="en-US" altLang="en-US" sz="1800" dirty="0"/>
          </a:p>
          <a:p>
            <a:pPr marL="457200" indent="-457200" algn="l">
              <a:buFont typeface="Arial" panose="020B0604020202020204" pitchFamily="34" charset="0"/>
              <a:buChar char="•"/>
            </a:pPr>
            <a:r>
              <a:rPr lang="en-US" altLang="en-US" sz="1800" dirty="0"/>
              <a:t>Include additional environmental and agricultural factors.</a:t>
            </a:r>
            <a:endParaRPr lang="en-US" altLang="en-US" sz="1800" dirty="0"/>
          </a:p>
          <a:p>
            <a:pPr marL="457200" indent="-457200" algn="l">
              <a:buFont typeface="Arial" panose="020B0604020202020204" pitchFamily="34" charset="0"/>
              <a:buChar char="•"/>
            </a:pPr>
            <a:r>
              <a:rPr lang="en-US" altLang="en-US" sz="1800" dirty="0"/>
              <a:t>Perform deeper analysis across different regions and categories.</a:t>
            </a:r>
            <a:endParaRPr lang="en-US" altLang="en-US" sz="1800" dirty="0"/>
          </a:p>
          <a:p>
            <a:pPr marL="457200" indent="-457200" algn="l">
              <a:buFont typeface="Arial" panose="020B0604020202020204" pitchFamily="34" charset="0"/>
              <a:buChar char="•"/>
            </a:pPr>
            <a:r>
              <a:rPr lang="en-US" altLang="en-US" sz="1800" dirty="0"/>
              <a:t>Use advanced statistical and visualization techniques.</a:t>
            </a:r>
            <a:endParaRPr lang="en-US" altLang="en-US" sz="1800" dirty="0"/>
          </a:p>
          <a:p>
            <a:pPr marL="457200" indent="-457200" algn="l">
              <a:buFont typeface="Arial" panose="020B0604020202020204" pitchFamily="34" charset="0"/>
              <a:buChar char="•"/>
            </a:pPr>
            <a:r>
              <a:rPr lang="en-US" altLang="en-US" sz="1800" dirty="0"/>
              <a:t>Support better seasonal agricultural planning.</a:t>
            </a:r>
            <a:endParaRPr lang="en-US" altLang="en-US" sz="18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675640" y="2843530"/>
            <a:ext cx="10582910" cy="154749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US" sz="2000" dirty="0"/>
              <a:t>https://github.com/dev-avi09/Seasonal_Agricultural_Performance_Analysis</a:t>
            </a:r>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2032635" y="1423670"/>
            <a:ext cx="8126730" cy="5144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32635" y="3086100"/>
            <a:ext cx="11340000" cy="700114"/>
          </a:xfrm>
          <a:prstGeom prst="rect">
            <a:avLst/>
          </a:prstGeom>
        </p:spPr>
        <p:txBody>
          <a:bodyPr anchor="ctr">
            <a:noAutofit/>
          </a:bodyPr>
          <a:lstStyle/>
          <a:p>
            <a:pPr algn="ctr"/>
            <a:r>
              <a:rPr lang="en-US" sz="8000" b="1" dirty="0">
                <a:solidFill>
                  <a:schemeClr val="tx1"/>
                </a:solidFill>
              </a:rPr>
              <a:t>Thank you</a:t>
            </a:r>
            <a:endParaRPr lang="en-US" sz="80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2" name="Text Box 1"/>
          <p:cNvSpPr txBox="1"/>
          <p:nvPr/>
        </p:nvSpPr>
        <p:spPr>
          <a:xfrm>
            <a:off x="7539990" y="3473450"/>
            <a:ext cx="4064000" cy="368300"/>
          </a:xfrm>
          <a:prstGeom prst="rect">
            <a:avLst/>
          </a:prstGeom>
          <a:noFill/>
        </p:spPr>
        <p:txBody>
          <a:bodyPr wrap="square" rtlCol="0">
            <a:spAutoFit/>
          </a:bodyPr>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 xmlns="http://schemas.microsoft.com/sharepoint/v3/contenttype/forms">DocumentLibraryForm</Display>
  <Edit xmlns="http://schemas.microsoft.com/sharepoint/v3/contenttype/forms">DocumentLibraryForm</Edit>
  <New xmlns="http://schemas.microsoft.com/sharepoint/v3/contenttype/forms">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mlns:xsi="http://www.w3.org/2001/XMLSchema-instance" xsi:nil="true"/>
  </documentManagement>
</p:properties>
</file>

<file path=customXml/item3.xml><?xml version="1.0" encoding="utf-8"?>
<ct:contentTypeSchema xmlns:ct="http://schemas.microsoft.com/office/2006/metadata/contentType" contentTypeVersion="12" contentTypeDescription="Create a new document." versionID="426e97fa315356fffbdcd9876fe988c2" contentTypeName="Document" contentTypeID="0x01010079F111ED35F8CC479449609E8A0923A6" contentTypeScope="" _="">
  <xsd:schema xmlns:xsd="http://www.w3.org/2001/XMLSchema" xmlns:ma="http://schemas.microsoft.com/office/2006/metadata/properties/metaAttributes" targetNamespace="http://schemas.microsoft.com/office/2006/metadata/properties" ma:root="true" ma:fieldsID="14b8f0def80e6d70ce3def20c90759ae" _="">
    <xsd:import xmlns:xsd="http://www.w3.org/2001/XMLSchema" namespace="71af3243-3dd4-4a8d-8c0d-dd76da1f02a5"/>
    <xsd:import xmlns:xsd="http://www.w3.org/2001/XMLSchema" namespace="16c05727-aa75-4e4a-9b5f-8a80a1165891"/>
    <xsd:element xmlns:xsd="http://www.w3.org/2001/XMLSchema" name="properties">
      <xsd:complexType xmlns:xsd="http://www.w3.org/2001/XMLSchema">
        <xsd:sequence xmlns:xsd="http://www.w3.org/2001/XMLSchema">
          <xsd:element xmlns:xsd="http://www.w3.org/2001/XMLSchema" name="documentManagement">
            <xsd:complexType xmlns:xsd="http://www.w3.org/2001/XMLSchema">
              <xsd:all xmlns:xsd="http://www.w3.org/2001/XMLSchema">
                <xsd:element xmlns:xsd="http://www.w3.org/2001/XMLSchema" ref="ns2:MediaServiceMetadata" minOccurs="0"/>
                <xsd:element xmlns:xsd="http://www.w3.org/2001/XMLSchema" ref="ns2:MediaServiceFastMetadata" minOccurs="0"/>
                <xsd:element xmlns:xsd="http://www.w3.org/2001/XMLSchema" ref="ns2:MediaServiceOCR" minOccurs="0"/>
                <xsd:element xmlns:xsd="http://www.w3.org/2001/XMLSchema" ref="ns2:MediaServiceAutoTags" minOccurs="0"/>
                <xsd:element xmlns:xsd="http://www.w3.org/2001/XMLSchema" ref="ns2:MediaServiceEventHashCode" minOccurs="0"/>
                <xsd:element xmlns:xsd="http://www.w3.org/2001/XMLSchema" ref="ns2:MediaServiceGenerationTime" minOccurs="0"/>
                <xsd:element xmlns:xsd="http://www.w3.org/2001/XMLSchema" ref="ns3:SharedWithUsers" minOccurs="0"/>
                <xsd:element xmlns:xsd="http://www.w3.org/2001/XMLSchema" ref="ns3:SharedWithDetails" minOccurs="0"/>
                <xsd:element xmlns:xsd="http://www.w3.org/2001/XMLSchema" ref="ns2:MediaServiceAutoKeyPoints" minOccurs="0"/>
                <xsd:element xmlns:xsd="http://www.w3.org/2001/XMLSchema" ref="ns2:MediaServiceKeyPoints" minOccurs="0"/>
                <xsd:element xmlns:xsd="http://www.w3.org/2001/XMLSchema" ref="ns2:MediaServiceDateTaken" minOccurs="0"/>
                <xsd:element xmlns:xsd="http://www.w3.org/2001/XMLSchema" ref="ns2:Status" minOccurs="0"/>
              </xsd:all>
            </xsd:complexType>
          </xsd:element>
        </xsd:sequence>
      </xsd:complexType>
    </xsd:element>
  </xsd:schema>
  <xsd:schema xmlns:xsd="http://www.w3.org/2001/XMLSchema" targetNamespace="71af3243-3dd4-4a8d-8c0d-dd76da1f02a5"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ma:index="8" name="MediaServiceMetadata" ma:internalName="MediaServiceMetadata" nillable="true" ma:readOnly="true" ma:displayName="MediaServiceMetadata" ma:hidden="true">
      <xsd:simpleType xmlns:xsd="http://www.w3.org/2001/XMLSchema">
        <xsd:restriction xmlns:xsd="http://www.w3.org/2001/XMLSchema" base="dms:Note"/>
      </xsd:simpleType>
    </xsd:element>
    <xsd:element xmlns:xsd="http://www.w3.org/2001/XMLSchema" xmlns:ma="http://schemas.microsoft.com/office/2006/metadata/properties/metaAttributes" ma:index="9" name="MediaServiceFastMetadata" ma:internalName="MediaServiceFastMetadata" nillable="true" ma:readOnly="true" ma:displayName="MediaServiceFastMetadata" ma:hidden="true">
      <xsd:simpleType xmlns:xsd="http://www.w3.org/2001/XMLSchema">
        <xsd:restriction xmlns:xsd="http://www.w3.org/2001/XMLSchema" base="dms:Note"/>
      </xsd:simpleType>
    </xsd:element>
    <xsd:element xmlns:xsd="http://www.w3.org/2001/XMLSchema" xmlns:ma="http://schemas.microsoft.com/office/2006/metadata/properties/metaAttributes" ma:index="10" name="MediaServiceOCR" ma:internalName="MediaServiceOCR" nillable="true" ma:readOnly="true" ma:displayName="MediaServiceOCR">
      <xsd:simpleType xmlns:xsd="http://www.w3.org/2001/XMLSchema">
        <xsd:restriction xmlns:xsd="http://www.w3.org/2001/XMLSchema" base="dms:Note">
          <xsd:maxLength xmlns:xsd="http://www.w3.org/2001/XMLSchema" value="255"/>
        </xsd:restriction>
      </xsd:simpleType>
    </xsd:element>
    <xsd:element xmlns:xsd="http://www.w3.org/2001/XMLSchema" xmlns:ma="http://schemas.microsoft.com/office/2006/metadata/properties/metaAttributes" ma:index="11" name="MediaServiceAutoTags" ma:internalName="MediaServiceAutoTags" nillable="true" ma:readOnly="true" ma:displayName="MediaServiceAutoTags">
      <xsd:simpleType xmlns:xsd="http://www.w3.org/2001/XMLSchema">
        <xsd:restriction xmlns:xsd="http://www.w3.org/2001/XMLSchema" base="dms:Text"/>
      </xsd:simpleType>
    </xsd:element>
    <xsd:element xmlns:xsd="http://www.w3.org/2001/XMLSchema" xmlns:ma="http://schemas.microsoft.com/office/2006/metadata/properties/metaAttributes" ma:index="12" name="MediaServiceEventHashCode" ma:internalName="MediaServiceEventHashCode" nillable="true" ma:readOnly="true" ma:displayName="MediaServiceEventHashCode" ma:hidden="true">
      <xsd:simpleType xmlns:xsd="http://www.w3.org/2001/XMLSchema">
        <xsd:restriction xmlns:xsd="http://www.w3.org/2001/XMLSchema" base="dms:Text"/>
      </xsd:simpleType>
    </xsd:element>
    <xsd:element xmlns:xsd="http://www.w3.org/2001/XMLSchema" xmlns:ma="http://schemas.microsoft.com/office/2006/metadata/properties/metaAttributes" ma:index="13" name="MediaServiceGenerationTime" ma:internalName="MediaServiceGenerationTime" nillable="true" ma:readOnly="true" ma:displayName="MediaServiceGenerationTime" ma:hidden="true">
      <xsd:simpleType xmlns:xsd="http://www.w3.org/2001/XMLSchema">
        <xsd:restriction xmlns:xsd="http://www.w3.org/2001/XMLSchema" base="dms:Text"/>
      </xsd:simpleType>
    </xsd:element>
    <xsd:element xmlns:xsd="http://www.w3.org/2001/XMLSchema" xmlns:ma="http://schemas.microsoft.com/office/2006/metadata/properties/metaAttributes" ma:index="16" name="MediaServiceAutoKeyPoints" ma:internalName="MediaServiceAutoKeyPoints" nillable="true" ma:readOnly="true" ma:displayName="MediaServiceAutoKeyPoints" ma:hidden="true">
      <xsd:simpleType xmlns:xsd="http://www.w3.org/2001/XMLSchema">
        <xsd:restriction xmlns:xsd="http://www.w3.org/2001/XMLSchema" base="dms:Note"/>
      </xsd:simpleType>
    </xsd:element>
    <xsd:element xmlns:xsd="http://www.w3.org/2001/XMLSchema" xmlns:ma="http://schemas.microsoft.com/office/2006/metadata/properties/metaAttributes" ma:index="17" name="MediaServiceKeyPoints" ma:internalName="MediaServiceKeyPoints" nillable="true" ma:readOnly="false" ma:displayName="KeyPoints">
      <xsd:simpleType xmlns:xsd="http://www.w3.org/2001/XMLSchema">
        <xsd:restriction xmlns:xsd="http://www.w3.org/2001/XMLSchema" base="dms:Note">
          <xsd:maxLength xmlns:xsd="http://www.w3.org/2001/XMLSchema" value="255"/>
        </xsd:restriction>
      </xsd:simpleType>
    </xsd:element>
    <xsd:element xmlns:xsd="http://www.w3.org/2001/XMLSchema" xmlns:ma="http://schemas.microsoft.com/office/2006/metadata/properties/metaAttributes" ma:index="18" name="MediaServiceDateTaken" ma:internalName="MediaServiceDateTaken" nillable="true" ma:readOnly="true" ma:displayName="MediaServiceDateTaken" ma:hidden="true">
      <xsd:simpleType xmlns:xsd="http://www.w3.org/2001/XMLSchema">
        <xsd:restriction xmlns:xsd="http://www.w3.org/2001/XMLSchema" base="dms:Text"/>
      </xsd:simpleType>
    </xsd:element>
    <xsd:element xmlns:xsd="http://www.w3.org/2001/XMLSchema" xmlns:ma="http://schemas.microsoft.com/office/2006/metadata/properties/metaAttributes" ma:default="Not started" ma:index="19" ma:format="Dropdown" name="Status" ma:internalName="Status" nillable="true" ma:displayName="Status">
      <xsd:simpleType xmlns:xsd="http://www.w3.org/2001/XMLSchema">
        <xsd:restriction xmlns:xsd="http://www.w3.org/2001/XMLSchema" base="dms:Choice">
          <xsd:enumeration xmlns:xsd="http://www.w3.org/2001/XMLSchema" value="Not started"/>
          <xsd:enumeration xmlns:xsd="http://www.w3.org/2001/XMLSchema" value="In Progress"/>
          <xsd:enumeration xmlns:xsd="http://www.w3.org/2001/XMLSchema" value="Completed"/>
        </xsd:restriction>
      </xsd:simpleType>
    </xsd:element>
  </xsd:schema>
  <xsd:schema xmlns:xsd="http://www.w3.org/2001/XMLSchema" targetNamespace="16c05727-aa75-4e4a-9b5f-8a80a1165891"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ma:index="14" name="SharedWithUsers" ma:internalName="SharedWithUsers" nillable="true" ma:readOnly="true" ma:displayName="Shared With">
      <xsd:complexType xmlns:xsd="http://www.w3.org/2001/XMLSchema">
        <xsd:complexContent xmlns:xsd="http://www.w3.org/2001/XMLSchema">
          <xsd:extension xmlns:xsd="http://www.w3.org/2001/XMLSchema" base="dms:UserMulti">
            <xsd:sequence xmlns:xsd="http://www.w3.org/2001/XMLSchema">
              <xsd:element xmlns:xsd="http://www.w3.org/2001/XMLSchema" name="UserInfo" minOccurs="0" maxOccurs="unbounded">
                <xsd:complexType xmlns:xsd="http://www.w3.org/2001/XMLSchema">
                  <xsd:sequence xmlns:xsd="http://www.w3.org/2001/XMLSchema">
                    <xsd:element xmlns:xsd="http://www.w3.org/2001/XMLSchema" type="xsd:string" name="DisplayName" minOccurs="0"/>
                    <xsd:element xmlns:xsd="http://www.w3.org/2001/XMLSchema" type="dms:UserId" name="AccountId" nillable="true" minOccurs="0"/>
                    <xsd:element xmlns:xsd="http://www.w3.org/2001/XMLSchema" type="xsd:string" name="AccountType" minOccurs="0"/>
                  </xsd:sequence>
                </xsd:complexType>
              </xsd:element>
            </xsd:sequence>
          </xsd:extension>
        </xsd:complexContent>
      </xsd:complexType>
    </xsd:element>
    <xsd:element xmlns:xsd="http://www.w3.org/2001/XMLSchema" xmlns:ma="http://schemas.microsoft.com/office/2006/metadata/properties/metaAttributes" ma:index="15" name="SharedWithDetails" ma:internalName="SharedWithDetails" nillable="true" ma:readOnly="true" ma:displayName="Shared With Details">
      <xsd:simpleType xmlns:xsd="http://www.w3.org/2001/XMLSchema">
        <xsd:restriction xmlns:xsd="http://www.w3.org/2001/XMLSchema" base="dms:Note">
          <xsd:maxLength xmlns:xsd="http://www.w3.org/2001/XMLSchema" value="255"/>
        </xsd:restriction>
      </xsd:simpleType>
    </xsd:element>
  </xsd:schema>
  <xsd:schema xmlns:xsd="http://www.w3.org/2001/XMLSchema" attributeFormDefault="unqualified" targetNamespace="http://schemas.openxmlformats.org/package/2006/metadata/core-properties" elementFormDefault="qualified" blockDefault="#all">
    <xsd:import xmlns:xsd="http://www.w3.org/2001/XMLSchema" schemaLocation="http://dublincore.org/schemas/xmls/qdc/2003/04/02/dc.xsd" namespace="http://purl.org/dc/elements/1.1/"/>
    <xsd:import xmlns:xsd="http://www.w3.org/2001/XMLSchema" schemaLocation="http://dublincore.org/schemas/xmls/qdc/2003/04/02/dcterms.xsd" namespace="http://purl.org/dc/terms/"/>
    <xsd:element xmlns:xsd="http://www.w3.org/2001/XMLSchema" type="CT_coreProperties" name="coreProperties"/>
    <xsd:complexType xmlns:xsd="http://www.w3.org/2001/XMLSchema" name="CT_coreProperties">
      <xsd:all xmlns:xsd="http://www.w3.org/2001/XMLSchema">
        <xsd:element xmlns:xsd="http://www.w3.org/2001/XMLSchema" ref="dc:creator" minOccurs="0" maxOccurs="1"/>
        <xsd:element xmlns:xsd="http://www.w3.org/2001/XMLSchema" ref="dcterms:created" minOccurs="0" maxOccurs="1"/>
        <xsd:element xmlns:xsd="http://www.w3.org/2001/XMLSchema" ref="dc:identifier" minOccurs="0" maxOccurs="1"/>
        <xsd:element xmlns:xsd="http://www.w3.org/2001/XMLSchema" xmlns:ma="http://schemas.microsoft.com/office/2006/metadata/properties/metaAttributes" ma:index="0" type="xsd:string" name="contentType" ma:displayName="Content Type" minOccurs="0" maxOccurs="1"/>
        <xsd:element xmlns:xsd="http://www.w3.org/2001/XMLSchema" xmlns:ma="http://schemas.microsoft.com/office/2006/metadata/properties/metaAttributes" ref="dc:title" ma:index="4" ma:displayName="Title" minOccurs="0" maxOccurs="1"/>
        <xsd:element xmlns:xsd="http://www.w3.org/2001/XMLSchema" ref="dc:subject" minOccurs="0" maxOccurs="1"/>
        <xsd:element xmlns:xsd="http://www.w3.org/2001/XMLSchema" ref="dc:description" minOccurs="0" maxOccurs="1"/>
        <xsd:element xmlns:xsd="http://www.w3.org/2001/XMLSchema" type="xsd:string" name="keywords" minOccurs="0" maxOccurs="1"/>
        <xsd:element xmlns:xsd="http://www.w3.org/2001/XMLSchema" ref="dc:language" minOccurs="0" maxOccurs="1"/>
        <xsd:element xmlns:xsd="http://www.w3.org/2001/XMLSchema" type="xsd:string" name="category" minOccurs="0" maxOccurs="1"/>
        <xsd:element xmlns:xsd="http://www.w3.org/2001/XMLSchema" type="xsd:string" name="version" minOccurs="0" maxOccurs="1"/>
        <xsd:element xmlns:xsd="http://www.w3.org/2001/XMLSchema" type="xsd:string" name="revision" minOccurs="0" maxOccurs="1">
          <xsd:annotation xmlns:xsd="http://www.w3.org/2001/XMLSchema">
            <xsd:documentation xmlns:xsd="http://www.w3.org/2001/XMLSchema">
                        This value indicates the number of saves or revisions. The application is responsible for updating this value after each revision.
                    </xsd:documentation>
          </xsd:annotation>
        </xsd:element>
        <xsd:element xmlns:xsd="http://www.w3.org/2001/XMLSchema" type="xsd:string" name="lastModifiedBy" minOccurs="0" maxOccurs="1"/>
        <xsd:element xmlns:xsd="http://www.w3.org/2001/XMLSchema" ref="dcterms:modified" minOccurs="0" maxOccurs="1"/>
        <xsd:element xmlns:xsd="http://www.w3.org/2001/XMLSchema" type="xsd:string" name="contentStatus" minOccurs="0" maxOccurs="1"/>
      </xsd:all>
    </xsd:complexType>
  </xsd:schema>
  <xs:schema xmlns:xs="http://www.w3.org/2001/XMLSchema" attributeFormDefault="unqualified" targetNamespace="http://schemas.microsoft.com/office/infopath/2007/PartnerControls" elementFormDefault="qualified">
    <xs:element xmlns:xs="http://www.w3.org/2001/XMLSchema" name="Person">
      <xs:complexType xmlns:xs="http://www.w3.org/2001/XMLSchema">
        <xs:sequence xmlns:xs="http://www.w3.org/2001/XMLSchema">
          <xs:element xmlns:xs="http://www.w3.org/2001/XMLSchema" ref="pc:DisplayName" minOccurs="0"/>
          <xs:element xmlns:xs="http://www.w3.org/2001/XMLSchema" ref="pc:AccountId" minOccurs="0"/>
          <xs:element xmlns:xs="http://www.w3.org/2001/XMLSchema" ref="pc:AccountType" minOccurs="0"/>
        </xs:sequence>
      </xs:complexType>
    </xs:element>
    <xs:element xmlns:xs="http://www.w3.org/2001/XMLSchema" type="xs:string" name="DisplayName"/>
    <xs:element xmlns:xs="http://www.w3.org/2001/XMLSchema" type="xs:string" name="AccountId"/>
    <xs:element xmlns:xs="http://www.w3.org/2001/XMLSchema" type="xs:string" name="AccountType"/>
    <xs:element xmlns:xs="http://www.w3.org/2001/XMLSchema" name="BDCAssociatedEntity">
      <xs:complexType xmlns:xs="http://www.w3.org/2001/XMLSchema">
        <xs:sequence xmlns:xs="http://www.w3.org/2001/XMLSchema">
          <xs:element xmlns:xs="http://www.w3.org/2001/XMLSchema" ref="pc:BDCEntity" minOccurs="0" maxOccurs="unbounded"/>
        </xs:sequence>
        <xs:attribute xmlns:xs="http://www.w3.org/2001/XMLSchema" ref="pc:EntityNamespace"/>
        <xs:attribute xmlns:xs="http://www.w3.org/2001/XMLSchema" ref="pc:EntityName"/>
        <xs:attribute xmlns:xs="http://www.w3.org/2001/XMLSchema" ref="pc:SystemInstanceName"/>
        <xs:attribute xmlns:xs="http://www.w3.org/2001/XMLSchema" ref="pc:AssociationName"/>
      </xs:complexType>
    </xs:element>
    <xs:attribute xmlns:xs="http://www.w3.org/2001/XMLSchema" type="xs:string" name="EntityNamespace"/>
    <xs:attribute xmlns:xs="http://www.w3.org/2001/XMLSchema" type="xs:string" name="EntityName"/>
    <xs:attribute xmlns:xs="http://www.w3.org/2001/XMLSchema" type="xs:string" name="SystemInstanceName"/>
    <xs:attribute xmlns:xs="http://www.w3.org/2001/XMLSchema" type="xs:string" name="AssociationName"/>
    <xs:element xmlns:xs="http://www.w3.org/2001/XMLSchema" name="BDCEntity">
      <xs:complexType xmlns:xs="http://www.w3.org/2001/XMLSchema">
        <xs:sequence xmlns:xs="http://www.w3.org/2001/XMLSchema">
          <xs:element xmlns:xs="http://www.w3.org/2001/XMLSchema" ref="pc:EntityDisplayName" minOccurs="0"/>
          <xs:element xmlns:xs="http://www.w3.org/2001/XMLSchema" ref="pc:EntityInstanceReference" minOccurs="0"/>
          <xs:element xmlns:xs="http://www.w3.org/2001/XMLSchema" ref="pc:EntityId1" minOccurs="0"/>
          <xs:element xmlns:xs="http://www.w3.org/2001/XMLSchema" ref="pc:EntityId2" minOccurs="0"/>
          <xs:element xmlns:xs="http://www.w3.org/2001/XMLSchema" ref="pc:EntityId3" minOccurs="0"/>
          <xs:element xmlns:xs="http://www.w3.org/2001/XMLSchema" ref="pc:EntityId4" minOccurs="0"/>
          <xs:element xmlns:xs="http://www.w3.org/2001/XMLSchema" ref="pc:EntityId5" minOccurs="0"/>
        </xs:sequence>
      </xs:complexType>
    </xs:element>
    <xs:element xmlns:xs="http://www.w3.org/2001/XMLSchema" type="xs:string" name="EntityDisplayName"/>
    <xs:element xmlns:xs="http://www.w3.org/2001/XMLSchema" type="xs:string" name="EntityInstanceReference"/>
    <xs:element xmlns:xs="http://www.w3.org/2001/XMLSchema" type="xs:string" name="EntityId1"/>
    <xs:element xmlns:xs="http://www.w3.org/2001/XMLSchema" type="xs:string" name="EntityId2"/>
    <xs:element xmlns:xs="http://www.w3.org/2001/XMLSchema" type="xs:string" name="EntityId3"/>
    <xs:element xmlns:xs="http://www.w3.org/2001/XMLSchema" type="xs:string" name="EntityId4"/>
    <xs:element xmlns:xs="http://www.w3.org/2001/XMLSchema" type="xs:string" name="EntityId5"/>
    <xs:element xmlns:xs="http://www.w3.org/2001/XMLSchema" name="Terms">
      <xs:complexType xmlns:xs="http://www.w3.org/2001/XMLSchema">
        <xs:sequence xmlns:xs="http://www.w3.org/2001/XMLSchema">
          <xs:element xmlns:xs="http://www.w3.org/2001/XMLSchema" ref="pc:TermInfo" minOccurs="0" maxOccurs="unbounded"/>
        </xs:sequence>
      </xs:complexType>
    </xs:element>
    <xs:element xmlns:xs="http://www.w3.org/2001/XMLSchema" name="TermInfo">
      <xs:complexType xmlns:xs="http://www.w3.org/2001/XMLSchema">
        <xs:sequence xmlns:xs="http://www.w3.org/2001/XMLSchema">
          <xs:element xmlns:xs="http://www.w3.org/2001/XMLSchema" ref="pc:TermName" minOccurs="0"/>
          <xs:element xmlns:xs="http://www.w3.org/2001/XMLSchema" ref="pc:TermId" minOccurs="0"/>
        </xs:sequence>
      </xs:complexType>
    </xs:element>
    <xs:element xmlns:xs="http://www.w3.org/2001/XMLSchema" type="xs:string" name="TermName"/>
    <xs:element xmlns:xs="http://www.w3.org/2001/XMLSchema" type="xs:string" name="TermId"/>
  </xs:schema>
</ct:contentTypeSchema>
</file>

<file path=customXml/itemProps1.xml><?xml version="1.0" encoding="utf-8"?>
<ds:datastoreItem xmlns:ds="http://schemas.openxmlformats.org/officeDocument/2006/customXml" ds:itemID="{05D99ABA-76CE-4A8E-B5F0-C051B96628DE}">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otalTime>0</TotalTime>
  <Words>2017</Words>
  <Application>WPS Office WWO_wpscloud_20260818174123-ed9259823c</Application>
  <PresentationFormat>Widescreen</PresentationFormat>
  <Paragraphs>68</Paragraphs>
  <Slides>14</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宋体</vt:lpstr>
      <vt:lpstr>Wingdings</vt:lpstr>
      <vt:lpstr>Wingdings 3</vt:lpstr>
      <vt:lpstr>Kingsoft Sign</vt:lpstr>
      <vt:lpstr>Arial</vt:lpstr>
      <vt:lpstr>Kingsoft Confetti</vt:lpstr>
      <vt:lpstr>Calibri</vt:lpstr>
      <vt:lpstr>微软雅黑</vt:lpstr>
      <vt:lpstr>汉仪旗黑KW 55S</vt:lpstr>
      <vt:lpstr>Trebuchet MS</vt:lpstr>
      <vt:lpstr>汉仪书宋二KW</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palak</cp:lastModifiedBy>
  <dcterms:created xsi:type="dcterms:W3CDTF">2026-09-08T08:31:24Z</dcterms:created>
  <dcterms:modified xsi:type="dcterms:W3CDTF">2026-09-08T08:31:24Z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104BEFC566684760B2F0FEBC807BA7B7_12</vt:lpwstr>
  </property>
  <property fmtid="{D5CDD505-2E9C-101B-9397-08002B2CF9AE}" pid="4" name="KSOProductBuildVer">
    <vt:lpwstr>2052-12.9.0.28513</vt:lpwstr>
  </property>
</Properties>
</file>